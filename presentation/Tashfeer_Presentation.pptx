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مقدمة المشروع: أداة تشفير تدعم سبع خوارزميات. أعرّف بنفسي وبعنوان العرض.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أستعرض خريطة العرض. نبدأ بالمفهوم ثم المقارنة ثم كل خوارزمية، وننتهي بالعرض الحي.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الفكرة الأساسية: مدخل واضح يمر عبر خوارزمية ومفتاح فينتج نص مشفّر. بدون المفتاح لا يُسترجع الأصل.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مقارنة سريعة بين السبع خوارزميات حسب النوع والسرعة والاستخدام. ست منها موصى بها وواحدة قديمة.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إذا سأل الدكتور: كيف تكتب كلمة مرور 3 أرقام لخوارزمية تحتاج 32 بايت؟ الجواب: PBKDF2 يشتق المفتاح بالطول الصحيح من أي كلمة مرور، فلا يهم طول كلمة المرور الأصلية.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AES-GCM هو المعيار الذهبي: يجمع السرية والتحقق في خطوة واحدة. تستخدمه واتساب وجيميل.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RSA يحل تبادل المفاتيح بمفتاحين. للملفات نستخدم التشفير الهجين مع AES لأن RSA بطيء ومحدود.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ChaCha20 أسرع من AES عند غياب التسريع العتادي، ولهذا تعتمده Signal وتطبيقات VPN.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نعرض 3DES لفهم تطوّر التشفير. مفتاحه 24 بايت لكنه قديم وبطيء ولا يُنصح به في الإنتاج.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Camellia بديل معتمد دولياً عن AES بنفس مستوى الأمان، شائع في اليابان ومعايير ISO/IEC.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نمط تعليمي مهم: التشفير ثم التوثيق. التحقق من HMAC قبل الفك يضمن السلامة ويكشف أي تعديل.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Fernet هو الخيار عالي المستوى: يجمع التشفير والتوثيق جاهزاً، فيقلّل أخطاء التنفيذ اليدوي.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فرق جوهري: التشفير يُعكس بالمفتاح، أما الـ Hash فباتجاه واحد للتحقق فقط. الخلط بينهما خطأ شائع.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أشغّل التطبيق وأبيّن التبويبين المنفصلين: تبويب للتشفير وتبويب لفك التشفير. أشفّر نصاً ثم أفكّه أمام الجميع.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أشكر الدكتور والطلبة وأفتح باب الأسئلة. مستعدّ لشرح أي خوارزمية أو تشغيل التطبيق مرة أخرى.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5122E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E242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960120"/>
            <a:ext cx="1218895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rgbClr val="000000"/>
                </a:solidFill>
              </a:rPr>
              <a:t>🔐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62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تشفير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0" y="306324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spc="600" kern="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A S H F E E 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0" y="361188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سبع خوارزميات تشفير في أداة واحدة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46704" y="4526280"/>
            <a:ext cx="5486400" cy="1371600"/>
          </a:xfrm>
          <a:prstGeom prst="roundRect">
            <a:avLst>
              <a:gd name="adj" fmla="val 6667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29584" y="470916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الطالب:  </a:t>
            </a:r>
            <a:pPr rtl="1" algn="r" indent="0" marL="0"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529584" y="5120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4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الرقم الدراسي:  </a:t>
            </a:r>
            <a:pPr algn="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29584" y="5513832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Cybersecurity — Encryption Algorithms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المحتويات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AGENDA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846320" y="160020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6550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ما هو التشفير؟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82296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Concept &amp; flow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508760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0607040" y="1600200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6583680" y="1655064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مقارنة الخوارزميات السبع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583680" y="2057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 table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734056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82549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— اشتقاق المفتاح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2960" y="32826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→ key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2734056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607040" y="2825496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583680" y="2880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الخوارزميات السبع بالتفصيل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6583680" y="328269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 · RSA · ChaCha20 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959352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46320" y="40507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22960" y="41056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التشفير مقابل البصمة (Hashing)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822960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Encryption vs hashing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09360" y="3959352"/>
            <a:ext cx="5394960" cy="1024128"/>
          </a:xfrm>
          <a:prstGeom prst="roundRect">
            <a:avLst>
              <a:gd name="adj" fmla="val 8929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0607040" y="4050792"/>
            <a:ext cx="91440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583680" y="4105656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5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العرض الحي + الأسئلة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583680" y="45079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 + Q&amp;A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ما هو التشفير؟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IS ENCRYPTION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تحويل البيانات المقروءة إلى صيغة غير مفهومة، لا يفكّها إلا من يملك المفتاح الصحيح.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9748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🔓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النص الأصلي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904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Plaintext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0" y="269748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1B1733"/>
          </a:solidFill>
          <a:ln w="12700">
            <a:solidFill>
              <a:srgbClr val="7C6A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⚙️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الخوارزمية + المفتاح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3904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Algorithm + Key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2697480"/>
            <a:ext cx="3017520" cy="1645920"/>
          </a:xfrm>
          <a:prstGeom prst="roundRect">
            <a:avLst>
              <a:gd name="adj" fmla="val 5556"/>
            </a:avLst>
          </a:prstGeom>
          <a:solidFill>
            <a:srgbClr val="13131F"/>
          </a:solidFill>
          <a:ln w="12700">
            <a:solidFill>
              <a:srgbClr val="FF6B6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321040" y="288036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🔒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321040" y="35661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النص المشفّر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321040" y="3904488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Ciphertext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950208" y="3337560"/>
            <a:ext cx="594360" cy="365760"/>
          </a:xfrm>
          <a:prstGeom prst="rightArrow">
            <a:avLst/>
          </a:prstGeom>
          <a:solidFill>
            <a:srgbClr val="7C6AFF"/>
          </a:solidFill>
          <a:ln/>
        </p:spPr>
      </p:sp>
      <p:sp>
        <p:nvSpPr>
          <p:cNvPr id="18" name="Shape 16"/>
          <p:cNvSpPr/>
          <p:nvPr/>
        </p:nvSpPr>
        <p:spPr>
          <a:xfrm>
            <a:off x="7699248" y="3337560"/>
            <a:ext cx="594360" cy="365760"/>
          </a:xfrm>
          <a:prstGeom prst="rightArrow">
            <a:avLst/>
          </a:prstGeom>
          <a:solidFill>
            <a:srgbClr val="7C6AFF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4754880"/>
            <a:ext cx="10515600" cy="1234440"/>
          </a:xfrm>
          <a:prstGeom prst="roundRect">
            <a:avLst>
              <a:gd name="adj" fmla="val 4444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60120" y="481888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مثال · Example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005840" y="5138928"/>
            <a:ext cx="10149840" cy="722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 →  AESGCM(key, nonce)  →  k3Jh8x2P9vQ1mZ...==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مقارنة الخوارزميات السبع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2651760"/>
                <a:gridCol w="1554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Algorithm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Type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Key Size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 Case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6A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AES-256-GCM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⚡⚡⚡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WhatsApp, Gmail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RSA-2048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غير 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2048 bit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🐢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HTTPS, SSH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ChaCha20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⚡⚡⚡⚡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Signal, VPN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Triple-DES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أنظمة قديمة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FF6B6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⚠️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Camellia-256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⚡⚡⚡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ISO/IEC، اليابان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AES-CBC+HMAC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⚡⚡⚡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تعليمي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9A8CFF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Fernet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متماثل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E8E8F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 byte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⚡⚡⚡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rtl="1" algn="ctr" indent="0" marL="0">
                        <a:buNone/>
                      </a:pPr>
                      <a:r>
                        <a:rPr lang="en-US" sz="1200" dirty="0">
                          <a:solidFill>
                            <a:srgbClr val="E8E8F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تطبيقات Python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00C89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✅</a:t>
                      </a:r>
                      <a:endParaRPr lang="en-US" sz="11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A2A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31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الأخضر ✅ موصى به · ⚠️ قديم · المتماثل = مفتاح واحد، غير المتماثل = مفتاحان.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كيف نحوّل كلمة مرور قصيرة إلى مفتاح قوي؟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PBKDF2 — KEY DERIVATION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2A1518"/>
          </a:solidFill>
          <a:ln w="15875">
            <a:solidFill>
              <a:srgbClr val="FF6B6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46304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المستخدم يكتب: </a:t>
            </a:r>
            <a:pPr algn="ctr" indent="0" marL="0">
              <a:buNone/>
            </a:pPr>
            <a:r>
              <a:rPr lang="en-US" sz="16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"123"</a:t>
            </a:r>
            <a:pPr rtl="1" algn="ctr" indent="0" marL="0">
              <a:buNone/>
            </a:pPr>
            <a:r>
              <a:rPr lang="en-US" sz="16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 لكن AES-256 يحتاج مفتاح </a:t>
            </a:r>
            <a:pPr rtl="1" algn="ctr" indent="0" marL="0">
              <a:buNone/>
            </a:pPr>
            <a:r>
              <a:rPr lang="en-US" sz="16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بايت بالضبط!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51460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13131F"/>
          </a:solidFill>
          <a:ln w="12700">
            <a:solidFill>
              <a:srgbClr val="8A8AA0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كلمة المرور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081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0" y="251460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1B1733"/>
          </a:solidFill>
          <a:ln w="12700">
            <a:solidFill>
              <a:srgbClr val="7C6A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0" y="267919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+ Salt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0" y="30632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+ 100,000 تكرار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321040" y="2514600"/>
            <a:ext cx="3017520" cy="1143000"/>
          </a:xfrm>
          <a:prstGeom prst="roundRect">
            <a:avLst>
              <a:gd name="adj" fmla="val 8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21040" y="26974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مفتاح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321040" y="3081528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byte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3950208" y="2926080"/>
            <a:ext cx="594360" cy="329184"/>
          </a:xfrm>
          <a:prstGeom prst="rightArrow">
            <a:avLst/>
          </a:prstGeom>
          <a:solidFill>
            <a:srgbClr val="7C6AFF"/>
          </a:solidFill>
          <a:ln/>
        </p:spPr>
      </p:sp>
      <p:sp>
        <p:nvSpPr>
          <p:cNvPr id="16" name="Shape 14"/>
          <p:cNvSpPr/>
          <p:nvPr/>
        </p:nvSpPr>
        <p:spPr>
          <a:xfrm>
            <a:off x="7699248" y="2926080"/>
            <a:ext cx="594360" cy="329184"/>
          </a:xfrm>
          <a:prstGeom prst="rightArrow">
            <a:avLst/>
          </a:prstGeom>
          <a:solidFill>
            <a:srgbClr val="7C6AFF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41422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📏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13232" y="4617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أي طول → الطول المطلوب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13232" y="50749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يمدّد أي كلمة مرور إلى الطول الذي تحتاجه كل خوارزمية بالضبط.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10712" y="3977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410712" y="41422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🧂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575304" y="4617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Salt عشوائي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575304" y="50749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يمنع هجمات القواميس والجداول الجاهزة (Rainbow Tables).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272784" y="3977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72784" y="41422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🔁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37376" y="4617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تكرار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37376" y="50749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يبطّئ هجمات التخمين بشكل كبير على المهاجم.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134856" y="3977640"/>
            <a:ext cx="2697480" cy="1828800"/>
          </a:xfrm>
          <a:prstGeom prst="roundRect">
            <a:avLst>
              <a:gd name="adj" fmla="val 5000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134856" y="4142232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🔑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9299448" y="4617720"/>
            <a:ext cx="23682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نفس الكلمة، أطوال مختلفة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299448" y="5074920"/>
            <a:ext cx="2368296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"123" تعطي 32 بايت لـ AES و24 بايت لـ Triple-DES.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AES-256-GCM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SYMMETRIC · AUTHENTICATED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أقوى وأشهر تشفير متماثل. وضع GCM يجمع السرية مع وسم تحقق (tag) يكشف أي تلاعب. المفتاح يُشتق من كلمة المرور عبر PBKDF2.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cryptography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.ciphers.aead import AESGCM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salt  = os.urandom(16)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  = PBKDF2HMAC(SHA256(), 32,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salt, 100_000).derive(pwd)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= os.urandom(12)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AESGCM(key).encrypt(nonce, data, None)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salt + nonce + ciphertext + tag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b64encode(salt + nonce + ct)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3977640"/>
            <a:ext cx="5486400" cy="2057400"/>
          </a:xfrm>
          <a:prstGeom prst="roundRect">
            <a:avLst>
              <a:gd name="adj" fmla="val 4444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07822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مثال · Example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309360" y="443484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input:   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"Secret"
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password: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"123"
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 </a:t>
            </a:r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9A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b1c9..salt+nonce+ct+tag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RSA-2048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ASYMMETRIC · TWO KEYS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مفتاحان: العام يُشارَك ويُشفّر فقط، والخاص سرّي ويفكّ. يحلّ مشكلة تبادل السرّ دون اتفاق مسبق على كلمة مرور.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RSA + Hybrid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 = rsa.generate_private_key(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65537, key_size=2048)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  = priv.public_key()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Hybrid: RSA يغلّف مفتاح AES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aes_key = os.urandom(32)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     = AESGCM(aes_key).encrypt(n, data)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enc_key = pub.encrypt(aes_key,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padding.OAEP(MGF1(SHA256()), SHA256()))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3977640"/>
            <a:ext cx="5486400" cy="2057400"/>
          </a:xfrm>
          <a:prstGeom prst="roundRect">
            <a:avLst>
              <a:gd name="adj" fmla="val 3556"/>
            </a:avLst>
          </a:prstGeom>
          <a:solidFill>
            <a:srgbClr val="1B1733"/>
          </a:solidFill>
          <a:ln w="15875">
            <a:solidFill>
              <a:srgbClr val="7C6A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07822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التشفير الهجين (Hybrid)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4805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RSA بطيء ومحدود الحجم، فنشفّر البيانات بـ AES ونشفّر مفتاح AES فقط بـ RSA — فيعمل مع أي حجم نص أو ملف.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ChaCha20-Poly1305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STREAM CIPHER · MOBILE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انسيابي سريع جداً بالبرمجيات مع Poly1305 للتحقق. مثالي للجوال حيث لا يوجد تسريع عتادي لـ AES.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ChaCha20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.ciphers.aead import ChaCha20Poly1305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PBKDF2HMAC(SHA256(), 32,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salt, 100_000).derive(pwd)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nonce = os.urandom(12)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ChaCha20Poly1305(key)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.encrypt(nonce, data, None)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126480" y="3931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السرعة (برمجياً) · Speed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126480" y="4389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040880" y="443484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2A2A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0" y="4389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1x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126480" y="49377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ChaCha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040880" y="4983480"/>
            <a:ext cx="4206240" cy="292608"/>
          </a:xfrm>
          <a:prstGeom prst="roundRect">
            <a:avLst>
              <a:gd name="adj" fmla="val 15625"/>
            </a:avLst>
          </a:prstGeom>
          <a:solidFill>
            <a:srgbClr val="00C896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0" y="49377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~3x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Triple-DES (3DES)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LEGACY · EDUCATIONAL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يطبّق DES ثلاث مرات بمفتاح 24 بايت. وضع CBC بحجم كتلة 8 بايت يحتاج حشو PKCS7. قديم وبطيء — للتعليم فقط.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Triple-DES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.ciphers import Cipher, modes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...decrepit.ciphers.algorithms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import TripleDES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PBKDF2HMAC(SHA256(), 24,   # 24 B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salt, 100_000).derive(pwd)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 = os.urandom(8)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Cipher(TripleDES(key), modes.CBC(iv))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.encryptor().update(pad(data))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42976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2A1518"/>
          </a:solidFill>
          <a:ln w="19050">
            <a:solidFill>
              <a:srgbClr val="FF6B6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تحذير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09360" y="477316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أُهمل رسمياً (NIST) ولا يُستخدم في الأنظمة الحديثة. استخدم AES أو ChaCha20 بدلاً منه.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Camellia-256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BLOCK CIPHER · ISO/IEC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تشفير كتلي ياباني بقوة AES، حجم كتلة 16 بايت ووضع CBC مع PKCS7. بديل معتمد دولياً عن AES.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Camellia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...decrepit.ciphers.algorithms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import Camellia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cryptography.hazmat.primitives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.ciphers import Cipher, modes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PBKDF2HMAC(SHA256(), 32,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salt, 100_000).derive(pwd)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 = os.urandom(16)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Cipher(Camellia(key), modes.CBC(iv)) \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.encryptor().update(pad(data))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42976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2241F"/>
          </a:solidFill>
          <a:ln w="15875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🌸 بديل AES الياباني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77316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طوّرته NTT و Mitsubishi، ومعتمد من ISO/IEC والاتحاد الأوروبي (NESSIE) بمستوى أمان مماثل لـ AES.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AES-256-CBC + HMAC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ENCRYPT-THEN-MAC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نشفّر بـ AES-CBC ثم نوقّع الناتج بـ HMAC-SHA256. عند الفك نتحقق من HMAC أولاً، فأي تلاعب أو كلمة خاطئة يُكتشف فوراً.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Encrypt-then-MAC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keys = PBKDF2HMAC(SHA256(), 64,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salt, 100_000).derive(pwd)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enc_key, mac_key = keys[:32], keys[32:]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iv = os.urandom(16)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 = AES_CBC(enc_key, iv).encrypt(pad(data))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 = HMAC(mac_key, SHA256, iv + ct)  # MAC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= salt + iv + tag + ct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42976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B1733"/>
          </a:solidFill>
          <a:ln w="15875">
            <a:solidFill>
              <a:srgbClr val="7C6A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🔏 لماذا HMAC؟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77316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CBC وحده لا يكشف التلاعب. نضيف HMAC ونتحقق منه قبل فك التشفير = تشفير ثم توثيق (Encrypt-then-MAC).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Fernet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READY-MADE · HIGH-LEVEL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126480" y="150876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309360" y="162763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الفكرة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2057400"/>
            <a:ext cx="51206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نظام جاهز وآمن يجمع AES-128-CBC + HMAC داخلياً ويدير كل التفاصيل. تكتب سطرين فقط وتحصل على تشفير موثّق.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5394960" cy="4526280"/>
          </a:xfrm>
          <a:prstGeom prst="roundRect">
            <a:avLst>
              <a:gd name="adj" fmla="val 121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57276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· Fernet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892808"/>
            <a:ext cx="5029200" cy="4014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cryptography.fernet import Fernet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= base64.urlsafe_b64encode(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PBKDF2HMAC(SHA256(), 32,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salt, 100_000).derive(pwd))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token = Fernet(key).encrypt(data)   # جاهز!</a:t>
            </a:r>
            <a:endParaRPr lang="en-US" sz="10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 = Fernet(key).decrypt(token)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4297680"/>
            <a:ext cx="5486400" cy="1737360"/>
          </a:xfrm>
          <a:prstGeom prst="roundRect">
            <a:avLst>
              <a:gd name="adj" fmla="val 4211"/>
            </a:avLst>
          </a:prstGeom>
          <a:solidFill>
            <a:srgbClr val="12241F"/>
          </a:solidFill>
          <a:ln w="15875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43891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🧰 جاهز مقابل يدوي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09360" y="4773168"/>
            <a:ext cx="51206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بدل بناء AES + HMAC + nonce يدوياً (سطور وأخطاء محتملة)، Fernet يقدّمها معلّبة وآمنة افتراضياً.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التشفير مقابل البصمة (Hashing)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ENCRYPTION vs HASHING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البصمة (Hashing) ليست تشفيراً: دالة باتجاه واحد تنتج بصمة ثابتة لا يمكن عكسها.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13131F"/>
          </a:solidFill>
          <a:ln w="12700">
            <a:solidFill>
              <a:srgbClr val="7C6AFF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1488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9A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التشفير (Encryption)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697480"/>
            <a:ext cx="5074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قابل للعكس (بالمفتاح)</a:t>
            </a:r>
            <a:endParaRPr lang="en-US" sz="1500" dirty="0"/>
          </a:p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الهدف: السرية</a:t>
            </a:r>
            <a:endParaRPr lang="en-US" sz="1500" dirty="0"/>
          </a:p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مثال: AES, RSA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199632" y="2011680"/>
            <a:ext cx="5440680" cy="3108960"/>
          </a:xfrm>
          <a:prstGeom prst="roundRect">
            <a:avLst>
              <a:gd name="adj" fmla="val 2941"/>
            </a:avLst>
          </a:prstGeom>
          <a:solidFill>
            <a:srgbClr val="13131F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382512" y="2148840"/>
            <a:ext cx="507492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 البصمة (Hashing)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382512" y="2697480"/>
            <a:ext cx="5074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غير قابل للعكس أبداً</a:t>
            </a:r>
            <a:endParaRPr lang="en-US" sz="1500" dirty="0"/>
          </a:p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الهدف: التحقق من السلامة</a:t>
            </a:r>
            <a:endParaRPr lang="en-US" sz="1500" dirty="0"/>
          </a:p>
          <a:p>
            <a:pPr rtl="1" algn="r"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مثال: SHA-256, SHA-3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53035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2A1518"/>
          </a:solidFill>
          <a:ln w="15875">
            <a:solidFill>
              <a:srgbClr val="FF6B6B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5413248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الخطأ الشائع: الناس تخلط بين التشفير والـ Hashing — الـ Hash لا يُفك، بل يُقارَن فقط.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10896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27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العرض الحي — تطبيق تشفير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1127455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300" spc="2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DEMO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297680"/>
          </a:xfrm>
          <a:prstGeom prst="roundRect">
            <a:avLst>
              <a:gd name="adj" fmla="val 2128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00200"/>
            <a:ext cx="6400800" cy="502920"/>
          </a:xfrm>
          <a:prstGeom prst="roundRect">
            <a:avLst>
              <a:gd name="adj" fmla="val 18182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1755648"/>
            <a:ext cx="182880" cy="18288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755648"/>
            <a:ext cx="182880" cy="182880"/>
          </a:xfrm>
          <a:prstGeom prst="ellipse">
            <a:avLst/>
          </a:prstGeom>
          <a:solidFill>
            <a:srgbClr val="F5C451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755648"/>
            <a:ext cx="182880" cy="182880"/>
          </a:xfrm>
          <a:prstGeom prst="ellipse">
            <a:avLst/>
          </a:prstGeom>
          <a:solidFill>
            <a:srgbClr val="00C896"/>
          </a:solidFill>
          <a:ln/>
        </p:spPr>
      </p:sp>
      <p:sp>
        <p:nvSpPr>
          <p:cNvPr id="9" name="Text 7"/>
          <p:cNvSpPr/>
          <p:nvPr/>
        </p:nvSpPr>
        <p:spPr>
          <a:xfrm>
            <a:off x="1828800" y="164592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localhost:5000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3317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7C6A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🔐 تشفير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749040" y="2331720"/>
            <a:ext cx="265176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3317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🔓 فك التشفير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29260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تشفير · TASHFEER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68680" y="3520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7C6A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50008" y="3520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50008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RSA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31336" y="3520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31336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ChaCha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312664" y="352044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12664" y="35204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3DES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68680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8680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Camellia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50008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50008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CBC+HMAC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31336" y="402336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2A2A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31336" y="40233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Fernet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46177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نص · ملفات · صور · صوت ]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103120" y="5120640"/>
            <a:ext cx="3291840" cy="365760"/>
          </a:xfrm>
          <a:prstGeom prst="roundRect">
            <a:avLst>
              <a:gd name="adj" fmla="val 50000"/>
            </a:avLst>
          </a:prstGeom>
          <a:solidFill>
            <a:srgbClr val="13131F"/>
          </a:solidFill>
          <a:ln w="15875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03120" y="5120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89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Base64 / .tashfeer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223760" y="1600200"/>
            <a:ext cx="4389120" cy="4297680"/>
          </a:xfrm>
          <a:prstGeom prst="roundRect">
            <a:avLst>
              <a:gd name="adj" fmla="val 2128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406640" y="17373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خطوات العرض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109960" y="225856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35" name="Text 33"/>
          <p:cNvSpPr/>
          <p:nvPr/>
        </p:nvSpPr>
        <p:spPr>
          <a:xfrm>
            <a:off x="11109960" y="22585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406640" y="22402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شغّل:  python app.py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109960" y="276148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38" name="Text 36"/>
          <p:cNvSpPr/>
          <p:nvPr/>
        </p:nvSpPr>
        <p:spPr>
          <a:xfrm>
            <a:off x="11109960" y="27614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406640" y="27432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افتح:  localhost:5000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1109960" y="326440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41" name="Text 39"/>
          <p:cNvSpPr/>
          <p:nvPr/>
        </p:nvSpPr>
        <p:spPr>
          <a:xfrm>
            <a:off x="1110996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406640" y="324612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تبويب «تشفير»: اكتب نصاً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1109960" y="376732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44" name="Text 42"/>
          <p:cNvSpPr/>
          <p:nvPr/>
        </p:nvSpPr>
        <p:spPr>
          <a:xfrm>
            <a:off x="11109960" y="37673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7406640" y="37490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كلمة مرور «123» → شفّر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1109960" y="427024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47" name="Text 45"/>
          <p:cNvSpPr/>
          <p:nvPr/>
        </p:nvSpPr>
        <p:spPr>
          <a:xfrm>
            <a:off x="11109960" y="4270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406640" y="4251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انسخ الناتج Base64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11109960" y="477316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50" name="Text 48"/>
          <p:cNvSpPr/>
          <p:nvPr/>
        </p:nvSpPr>
        <p:spPr>
          <a:xfrm>
            <a:off x="11109960" y="47731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7406640" y="47548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تبويب «فك التشفير»: الصقه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1109960" y="5276088"/>
            <a:ext cx="292608" cy="292608"/>
          </a:xfrm>
          <a:prstGeom prst="ellipse">
            <a:avLst/>
          </a:prstGeom>
          <a:solidFill>
            <a:srgbClr val="7C6AFF"/>
          </a:solidFill>
          <a:ln/>
        </p:spPr>
      </p:sp>
      <p:sp>
        <p:nvSpPr>
          <p:cNvPr id="53" name="Text 51"/>
          <p:cNvSpPr/>
          <p:nvPr/>
        </p:nvSpPr>
        <p:spPr>
          <a:xfrm>
            <a:off x="11109960" y="52760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7406640" y="525780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E8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جرّب RSA: ولّد مفاتيح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57200" y="6437376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en-US" sz="900" dirty="0">
                <a:solidFill>
                  <a:srgbClr val="8A8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pPr algn="l" indent="0" marL="0">
              <a:buNone/>
            </a:pPr>
            <a:r>
              <a:rPr lang="en-US" sz="900" dirty="0">
                <a:solidFill>
                  <a:srgbClr val="2A2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642   ·   Tashfeer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1247120" y="640080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0" y="-1371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15122E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0E2421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188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dirty="0">
                <a:solidFill>
                  <a:srgbClr val="000000"/>
                </a:solidFill>
              </a:rPr>
              <a:t>🔐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0" y="21031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5000" b="1" dirty="0">
                <a:solidFill>
                  <a:srgbClr val="7C6A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شكراً لكم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000" dirty="0">
                <a:solidFill>
                  <a:srgbClr val="00C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أسئلتكم ومناقشتكم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0" y="379476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Questions &amp; Answers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803904" y="4572000"/>
            <a:ext cx="4572000" cy="1280160"/>
          </a:xfrm>
          <a:prstGeom prst="roundRect">
            <a:avLst>
              <a:gd name="adj" fmla="val 7143"/>
            </a:avLst>
          </a:prstGeom>
          <a:solidFill>
            <a:srgbClr val="13131F"/>
          </a:solidFill>
          <a:ln w="12700">
            <a:solidFill>
              <a:srgbClr val="2A2A3A"/>
            </a:solidFill>
            <a:prstDash val="solid"/>
          </a:ln>
          <a:effectLst>
            <a:outerShdw sx="100000" sy="100000" kx="0" ky="0" algn="bl" rotWithShape="0" blurRad="114300" dist="50800" dir="5400000">
              <a:srgbClr val="000000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86784" y="47548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b="1" dirty="0">
                <a:solidFill>
                  <a:srgbClr val="E8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حسين حامد الكوافي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986784" y="525780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8A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 642  ·  Cybersecurity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Cybersecurity — Encryption Algorithms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Tashfeer</dc:title>
  <dc:subject>PptxGenJS Presentation</dc:subject>
  <dc:creator>Hussain Hamed Al-Kawafi (642)</dc:creator>
  <cp:lastModifiedBy>Hussain Hamed Al-Kawafi (642)</cp:lastModifiedBy>
  <cp:revision>1</cp:revision>
  <dcterms:created xsi:type="dcterms:W3CDTF">2026-06-13T12:14:41Z</dcterms:created>
  <dcterms:modified xsi:type="dcterms:W3CDTF">2026-06-13T12:14:41Z</dcterms:modified>
</cp:coreProperties>
</file>