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هذه مقدمة المشروع: أداة تشفير اسمها تشفير. أعرّف بنفسي وبعنوان العرض.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أستعرض النقاط الرئيسية للعرض. نبدأ بالمفهوم ثم نغوص في كل خوارزمية.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أشرح الفكرة الأساسية: مدخل واضح يمر عبر خوارزمية ومفتاح فينتج نص مشفّر. بدون المفتاح لا يمكن استرجاع الأصل.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جدول مقارنة سريع بين الأربع خوارزميات. الأخضر يعني موصى به، والأحمر يعني قديم وغير آمن.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AES هو المعيار الذهبي للتشفير المتماثل. وضع GCM يجمع بين السرية والتحقق من السلامة في خطوة واحدة.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RSA يحل مشكلة تبادل المفاتيح بمفتاحين منفصلين. للملفات الكبيرة نستخدم التشفير الهجين مع AES.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ChaCha20 أسرع من AES عند غياب التسريع العتادي، ولذلك تعتمده تطبيقات الجوال وبروتوكول TLS الحديث.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نعرض 3DES لفهم تطور التشفير. مفتاحه 24 بايت لكنه قديم وأبطأ، ولا يُنصح به في الإنتاج.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هذه المفاهيم الثلاثة هي أساس الأمان العملي. الملح والـ nonce يضمنان أن كل عملية تشفير فريدة.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أنتقل الآن للتطبيق الحقيقي وأشغّله أمام الجميع. أشفّر نصاً ثم أفكّه لأثبت أنه يعمل فعلياً.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خلاصة عملية تساعد على اختيار الخوارزمية المناسبة. القاعدة: AES أو ChaCha20 للتشفير، RSA لتبادل المفاتيح.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أشكر الدكتور والطلبة وأفتح باب الأسئلة. مستعد لشرح أي خوارزمية أو تشغيل التطبيق مرة أخرى.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5486400" cy="5486400"/>
          </a:xfrm>
          <a:prstGeom prst="roundRect">
            <a:avLst>
              <a:gd name="adj" fmla="val 50000"/>
            </a:avLst>
          </a:prstGeom>
          <a:solidFill>
            <a:srgbClr val="15122E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0" y="3657600"/>
            <a:ext cx="5486400" cy="5486400"/>
          </a:xfrm>
          <a:prstGeom prst="roundRect">
            <a:avLst>
              <a:gd name="adj" fmla="val 50000"/>
            </a:avLst>
          </a:prstGeom>
          <a:solidFill>
            <a:srgbClr val="0E2421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097280"/>
            <a:ext cx="121889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🔐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0" y="2103120"/>
            <a:ext cx="121889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6600" b="1" dirty="0">
                <a:solidFill>
                  <a:srgbClr val="7C6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تشفير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0" y="329184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spc="600" kern="0" dirty="0">
                <a:solidFill>
                  <a:srgbClr val="00C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 A S H F E E R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0" y="388620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600" dirty="0">
                <a:solidFill>
                  <a:srgbClr val="8A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أداة تشفير تعليمية — أربع خوارزميات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346704" y="4709160"/>
            <a:ext cx="5486400" cy="1325880"/>
          </a:xfrm>
          <a:prstGeom prst="roundRect">
            <a:avLst>
              <a:gd name="adj" fmla="val 6897"/>
            </a:avLst>
          </a:prstGeom>
          <a:solidFill>
            <a:srgbClr val="13131F"/>
          </a:solidFill>
          <a:ln w="12700">
            <a:solidFill>
              <a:srgbClr val="2A2A3A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529584" y="48920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8A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الطالب:  </a:t>
            </a:r>
            <a:pPr rtl="1" algn="r" indent="0" marL="0">
              <a:buNone/>
            </a:pPr>
            <a:r>
              <a:rPr lang="en-US" sz="1600" b="1" dirty="0">
                <a:solidFill>
                  <a:srgbClr val="DDD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حسين حامد الكوافي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529584" y="530352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8A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الرقم الدراسي:  </a:t>
            </a:r>
            <a:pPr algn="r" indent="0" marL="0">
              <a:buNone/>
            </a:pPr>
            <a:r>
              <a:rPr lang="en-US" sz="1600" b="1" dirty="0">
                <a:solidFill>
                  <a:srgbClr val="00C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642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529584" y="56692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Cybersecurity — Encryption Algorithms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7C6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المحتويات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32688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spc="200" kern="0" dirty="0">
                <a:solidFill>
                  <a:srgbClr val="8A8A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AGENDA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1051560"/>
          </a:xfrm>
          <a:prstGeom prst="roundRect">
            <a:avLst>
              <a:gd name="adj" fmla="val 8696"/>
            </a:avLst>
          </a:prstGeom>
          <a:solidFill>
            <a:srgbClr val="13131F"/>
          </a:solidFill>
          <a:ln w="12700">
            <a:solidFill>
              <a:srgbClr val="2A2A3A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846320" y="1645920"/>
            <a:ext cx="914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7C6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719072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DDD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ما هو التشفير؟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2121408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How encryption works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309360" y="1554480"/>
            <a:ext cx="5394960" cy="1051560"/>
          </a:xfrm>
          <a:prstGeom prst="roundRect">
            <a:avLst>
              <a:gd name="adj" fmla="val 8696"/>
            </a:avLst>
          </a:prstGeom>
          <a:solidFill>
            <a:srgbClr val="13131F"/>
          </a:solidFill>
          <a:ln w="12700">
            <a:solidFill>
              <a:srgbClr val="2A2A3A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0607040" y="1645920"/>
            <a:ext cx="914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7C6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6583680" y="1719072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DDD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مقارنة الخوارزميات الأربع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583680" y="2121408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Algorithm comparison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834640"/>
            <a:ext cx="5394960" cy="1051560"/>
          </a:xfrm>
          <a:prstGeom prst="roundRect">
            <a:avLst>
              <a:gd name="adj" fmla="val 8696"/>
            </a:avLst>
          </a:prstGeom>
          <a:solidFill>
            <a:srgbClr val="13131F"/>
          </a:solidFill>
          <a:ln w="12700">
            <a:solidFill>
              <a:srgbClr val="2A2A3A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846320" y="2926080"/>
            <a:ext cx="914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7C6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2960" y="2999232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DDD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AES-256-GCM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22960" y="3401568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Symmetric · authenticated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309360" y="2834640"/>
            <a:ext cx="5394960" cy="1051560"/>
          </a:xfrm>
          <a:prstGeom prst="roundRect">
            <a:avLst>
              <a:gd name="adj" fmla="val 8696"/>
            </a:avLst>
          </a:prstGeom>
          <a:solidFill>
            <a:srgbClr val="13131F"/>
          </a:solidFill>
          <a:ln w="12700">
            <a:solidFill>
              <a:srgbClr val="2A2A3A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0607040" y="2926080"/>
            <a:ext cx="914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7C6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583680" y="2999232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DDD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RSA-2048 + Hybrid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583680" y="3401568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Asymmetric keys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4114800"/>
            <a:ext cx="5394960" cy="1051560"/>
          </a:xfrm>
          <a:prstGeom prst="roundRect">
            <a:avLst>
              <a:gd name="adj" fmla="val 8696"/>
            </a:avLst>
          </a:prstGeom>
          <a:solidFill>
            <a:srgbClr val="13131F"/>
          </a:solidFill>
          <a:ln w="12700">
            <a:solidFill>
              <a:srgbClr val="2A2A3A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846320" y="4206240"/>
            <a:ext cx="914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7C6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822960" y="4279392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DDD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ChaCha20 و Triple-DES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22960" y="4681728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Speed &amp; legacy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09360" y="4114800"/>
            <a:ext cx="5394960" cy="1051560"/>
          </a:xfrm>
          <a:prstGeom prst="roundRect">
            <a:avLst>
              <a:gd name="adj" fmla="val 8696"/>
            </a:avLst>
          </a:prstGeom>
          <a:solidFill>
            <a:srgbClr val="13131F"/>
          </a:solidFill>
          <a:ln w="12700">
            <a:solidFill>
              <a:srgbClr val="2A2A3A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10607040" y="4206240"/>
            <a:ext cx="914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7C6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6583680" y="4279392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DDD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إدارة المفاتيح والعرض الحي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6583680" y="4681728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Keys, Salt, Nonce + Demo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8A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حسين حامد الكوافي</a:t>
            </a:r>
            <a:pPr algn="l" indent="0" marL="0">
              <a:buNone/>
            </a:pPr>
            <a:r>
              <a:rPr lang="en-US" sz="900" dirty="0">
                <a:solidFill>
                  <a:srgbClr val="2A2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·   642   ·   Tashfeer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247120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C6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7C6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ما هو التشفير؟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32688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spc="200" kern="0" dirty="0">
                <a:solidFill>
                  <a:srgbClr val="8A8A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IS ENCRYPTION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DDD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تحويل البيانات المقروءة إلى صيغة غير مفهومة، بحيث لا يفكّها إلا من يملك المفتاح الصحيح.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2743200"/>
            <a:ext cx="3017520" cy="1554480"/>
          </a:xfrm>
          <a:prstGeom prst="roundRect">
            <a:avLst>
              <a:gd name="adj" fmla="val 5882"/>
            </a:avLst>
          </a:prstGeom>
          <a:solidFill>
            <a:srgbClr val="13131F"/>
          </a:solidFill>
          <a:ln w="12700">
            <a:solidFill>
              <a:srgbClr val="00C896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92608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🔓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822960" y="36118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DDD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النص الأصلي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39319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8A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Plaintext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0" y="2743200"/>
            <a:ext cx="3017520" cy="1554480"/>
          </a:xfrm>
          <a:prstGeom prst="roundRect">
            <a:avLst>
              <a:gd name="adj" fmla="val 5882"/>
            </a:avLst>
          </a:prstGeom>
          <a:solidFill>
            <a:srgbClr val="1B1733"/>
          </a:solidFill>
          <a:ln w="12700">
            <a:solidFill>
              <a:srgbClr val="7C6AFF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72000" y="292608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⚙️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572000" y="36118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9A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الخوارزمية + المفتاح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72000" y="39319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8A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Algorithm + Key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321040" y="2743200"/>
            <a:ext cx="3017520" cy="1554480"/>
          </a:xfrm>
          <a:prstGeom prst="roundRect">
            <a:avLst>
              <a:gd name="adj" fmla="val 5882"/>
            </a:avLst>
          </a:prstGeom>
          <a:solidFill>
            <a:srgbClr val="13131F"/>
          </a:solidFill>
          <a:ln w="12700">
            <a:solidFill>
              <a:srgbClr val="FF6B6B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321040" y="292608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🔒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8321040" y="36118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DDD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النص المشفّر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321040" y="39319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8A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Ciphertext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950208" y="3337560"/>
            <a:ext cx="594360" cy="365760"/>
          </a:xfrm>
          <a:prstGeom prst="rightArrow">
            <a:avLst/>
          </a:prstGeom>
          <a:solidFill>
            <a:srgbClr val="7C6AFF"/>
          </a:solidFill>
          <a:ln/>
        </p:spPr>
      </p:sp>
      <p:sp>
        <p:nvSpPr>
          <p:cNvPr id="18" name="Shape 16"/>
          <p:cNvSpPr/>
          <p:nvPr/>
        </p:nvSpPr>
        <p:spPr>
          <a:xfrm>
            <a:off x="7699248" y="3337560"/>
            <a:ext cx="594360" cy="365760"/>
          </a:xfrm>
          <a:prstGeom prst="rightArrow">
            <a:avLst/>
          </a:prstGeom>
          <a:solidFill>
            <a:srgbClr val="7C6AFF"/>
          </a:solidFill>
          <a:ln/>
        </p:spPr>
      </p:sp>
      <p:sp>
        <p:nvSpPr>
          <p:cNvPr id="19" name="Shape 17"/>
          <p:cNvSpPr/>
          <p:nvPr/>
        </p:nvSpPr>
        <p:spPr>
          <a:xfrm>
            <a:off x="822960" y="4754880"/>
            <a:ext cx="10515600" cy="1234440"/>
          </a:xfrm>
          <a:prstGeom prst="roundRect">
            <a:avLst>
              <a:gd name="adj" fmla="val 4444"/>
            </a:avLst>
          </a:prstGeom>
          <a:solidFill>
            <a:srgbClr val="13131F"/>
          </a:solidFill>
          <a:ln w="12700">
            <a:solidFill>
              <a:srgbClr val="2A2A3A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60120" y="4828032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0C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مثال · Example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05840" y="5166360"/>
            <a:ext cx="101498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Hello  →  AESGCM(key, nonce)  →  k3Jh8x2P9vQ1mZ...==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8A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حسين حامد الكوافي</a:t>
            </a:r>
            <a:pPr algn="l" indent="0" marL="0">
              <a:buNone/>
            </a:pPr>
            <a:r>
              <a:rPr lang="en-US" sz="900" dirty="0">
                <a:solidFill>
                  <a:srgbClr val="2A2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·   642   ·   Tashfeer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247120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C6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7C6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مقارنة الخوارزميات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32688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spc="200" kern="0" dirty="0">
                <a:solidFill>
                  <a:srgbClr val="8A8A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ALGORITHM COMPARISON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2011680"/>
                <a:gridCol w="1828800"/>
                <a:gridCol w="2743200"/>
                <a:gridCol w="20116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Algorithm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C6A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Type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C6A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Speed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C6A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Use case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C6A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Status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C6A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A8C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AES-256-GCM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3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DDDD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Symmetric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3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C8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3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DDDD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/ general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3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C8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Recommended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31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A8C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RSA-2048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3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DDDD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Asymmetric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3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Slow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3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DDDD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exchange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3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C8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Recommended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31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A8C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ChaCha20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3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DDDD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Symmetric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3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C8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Very fast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3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DDDD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 / no-AES-HW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3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C8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Recommended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31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A8C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Triple-DES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3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DDDD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Symmetric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3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Slow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3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DDDD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Legacy systems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3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Deprecated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31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8521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8A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 و ChaCha20 متماثلان (مفتاح واحد)، أما RSA غير متماثل (مفتاحان). Triple-DES يُستخدم للتعليم فقط.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8A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حسين حامد الكوافي</a:t>
            </a:r>
            <a:pPr algn="l" indent="0" marL="0">
              <a:buNone/>
            </a:pPr>
            <a:r>
              <a:rPr lang="en-US" sz="900" dirty="0">
                <a:solidFill>
                  <a:srgbClr val="2A2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·   642   ·   Tashfeer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247120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C6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7C6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التشفير المتماثل — AES-256-GCM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32688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spc="200" kern="0" dirty="0">
                <a:solidFill>
                  <a:srgbClr val="8A8A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SYMMETRIC · AUTHENTICATED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212080" cy="2103120"/>
          </a:xfrm>
          <a:prstGeom prst="roundRect">
            <a:avLst>
              <a:gd name="adj" fmla="val 4348"/>
            </a:avLst>
          </a:prstGeom>
          <a:solidFill>
            <a:srgbClr val="13131F"/>
          </a:solidFill>
          <a:ln w="12700">
            <a:solidFill>
              <a:srgbClr val="2A2A3A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916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00C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الفكرة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2103120"/>
            <a:ext cx="48463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DD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مفتاح واحد للتشفير وفك التشفير (256-bit).
</a:t>
            </a:r>
            <a:pPr algn="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DD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GCM يضيف وسم تحقق (Tag) يكشف أي تلاعب.
</a:t>
            </a:r>
            <a:pPr algn="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DD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المفتاح يُشتق من كلمة المرور عبر PBKDF2.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840480"/>
            <a:ext cx="5212080" cy="2148840"/>
          </a:xfrm>
          <a:prstGeom prst="roundRect">
            <a:avLst>
              <a:gd name="adj" fmla="val 4255"/>
            </a:avLst>
          </a:prstGeom>
          <a:solidFill>
            <a:srgbClr val="13131F"/>
          </a:solidFill>
          <a:ln w="12700">
            <a:solidFill>
              <a:srgbClr val="2A2A3A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3950208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0C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مثال حقيقي · Example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4343400"/>
            <a:ext cx="48463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A8A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input:    </a:t>
            </a:r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"Secret"
</a:t>
            </a:r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A8A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password: </a:t>
            </a:r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"p@ss123"
</a:t>
            </a:r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A8A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output:   </a:t>
            </a:r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b1c9..salt+nonce+ct+tag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035040" y="1554480"/>
            <a:ext cx="5577840" cy="4434840"/>
          </a:xfrm>
          <a:prstGeom prst="roundRect">
            <a:avLst>
              <a:gd name="adj" fmla="val 1237"/>
            </a:avLst>
          </a:prstGeom>
          <a:solidFill>
            <a:srgbClr val="13131F"/>
          </a:solidFill>
          <a:ln w="12700">
            <a:solidFill>
              <a:srgbClr val="2A2A3A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172200" y="1627632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0C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· cryptography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217920" y="1965960"/>
            <a:ext cx="521208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cryptography.hazmat.primitives \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.ciphers.aead import AESGCM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salt  = os.urandom(16)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   = PBKDF2HMAC(SHA256(), 32,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salt, 100_000).derive(pwd)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nonce = os.urandom(12)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 = AESGCM(key).encrypt(nonce, data, None)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output = salt + nonce + ct + tag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token  = b64encode(salt + nonce + ct)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8A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حسين حامد الكوافي</a:t>
            </a:r>
            <a:pPr algn="l" indent="0" marL="0">
              <a:buNone/>
            </a:pPr>
            <a:r>
              <a:rPr lang="en-US" sz="900" dirty="0">
                <a:solidFill>
                  <a:srgbClr val="2A2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·   642   ·   Tashfeer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247120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C6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7C6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التشفير غير المتماثل — RSA-2048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32688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spc="200" kern="0" dirty="0">
                <a:solidFill>
                  <a:srgbClr val="8A8A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ASYMMETRIC · TWO KEYS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212080" cy="1828800"/>
          </a:xfrm>
          <a:prstGeom prst="roundRect">
            <a:avLst>
              <a:gd name="adj" fmla="val 5000"/>
            </a:avLst>
          </a:prstGeom>
          <a:solidFill>
            <a:srgbClr val="13131F"/>
          </a:solidFill>
          <a:ln w="12700">
            <a:solidFill>
              <a:srgbClr val="00C896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916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00C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المفتاح العام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DD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يُشارَك مع الجميع · يُشفّر فقط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26974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8A8A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key  →  encrypt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520440"/>
            <a:ext cx="5212080" cy="1828800"/>
          </a:xfrm>
          <a:prstGeom prst="roundRect">
            <a:avLst>
              <a:gd name="adj" fmla="val 5000"/>
            </a:avLst>
          </a:prstGeom>
          <a:solidFill>
            <a:srgbClr val="13131F"/>
          </a:solidFill>
          <a:ln w="12700">
            <a:solidFill>
              <a:srgbClr val="FF6B6B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31520" y="36576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🔐 المفتاح الخاص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31520" y="40233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DD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سرّي تماماً · يفكّ التشفير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31520" y="466344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8A8A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Private key  →  decrypt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035040" y="1554480"/>
            <a:ext cx="5577840" cy="3246120"/>
          </a:xfrm>
          <a:prstGeom prst="roundRect">
            <a:avLst>
              <a:gd name="adj" fmla="val 1690"/>
            </a:avLst>
          </a:prstGeom>
          <a:solidFill>
            <a:srgbClr val="13131F"/>
          </a:solidFill>
          <a:ln w="12700">
            <a:solidFill>
              <a:srgbClr val="2A2A3A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172200" y="1627632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0C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· RSA + Hybrid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217920" y="1965960"/>
            <a:ext cx="5212080" cy="2697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priv = rsa.generate_private_key(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public_exponent=65537,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key_size=2048)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  = priv.public_key()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Hybrid: RSA wraps a random AES key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aes_key = os.urandom(32)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enc_key = pub.encrypt(aes_key, OAEP(...))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      = AESGCM(aes_key).encrypt(n, data)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035040" y="4983480"/>
            <a:ext cx="5577840" cy="1005840"/>
          </a:xfrm>
          <a:prstGeom prst="roundRect">
            <a:avLst>
              <a:gd name="adj" fmla="val 7273"/>
            </a:avLst>
          </a:prstGeom>
          <a:solidFill>
            <a:srgbClr val="1B1733"/>
          </a:solidFill>
          <a:ln w="15875">
            <a:solidFill>
              <a:srgbClr val="7C6AFF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217920" y="507492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9A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التشفير الهجين (Hybrid)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17920" y="544068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DD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RSA بطيء ومحدود الحجم، فنشفّر البيانات بـ AES ونشفّر مفتاح AES بـ RSA — فيعمل مع أي حجم.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8A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حسين حامد الكوافي</a:t>
            </a:r>
            <a:pPr algn="l" indent="0" marL="0">
              <a:buNone/>
            </a:pPr>
            <a:r>
              <a:rPr lang="en-US" sz="900" dirty="0">
                <a:solidFill>
                  <a:srgbClr val="2A2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·   642   ·   Tashfeer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47120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C6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7C6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السرعة — ChaCha20-Poly1305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32688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spc="200" kern="0" dirty="0">
                <a:solidFill>
                  <a:srgbClr val="8A8A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STREAM CIPHER · MOBILE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212080" cy="1828800"/>
          </a:xfrm>
          <a:prstGeom prst="roundRect">
            <a:avLst>
              <a:gd name="adj" fmla="val 5000"/>
            </a:avLst>
          </a:prstGeom>
          <a:solidFill>
            <a:srgbClr val="13131F"/>
          </a:solidFill>
          <a:ln w="12700">
            <a:solidFill>
              <a:srgbClr val="2A2A3A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916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00C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الفكرة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4846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DD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تشفير انسيابي سريع جداً بالبرمجيات.
</a:t>
            </a:r>
            <a:pPr algn="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DD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Poly1305 يوفّر التحقق من السلامة.
</a:t>
            </a:r>
            <a:pPr algn="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DD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مثالي للجوال حيث لا يوجد تسريع AES.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61188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A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مقارنة السرعة على الجوال · Speed (software)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406908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DDDD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463040" y="4114800"/>
            <a:ext cx="2194560" cy="292608"/>
          </a:xfrm>
          <a:prstGeom prst="roundRect">
            <a:avLst>
              <a:gd name="adj" fmla="val 15625"/>
            </a:avLst>
          </a:prstGeom>
          <a:solidFill>
            <a:srgbClr val="2A2A3A"/>
          </a:solidFill>
          <a:ln/>
        </p:spPr>
      </p:sp>
      <p:sp>
        <p:nvSpPr>
          <p:cNvPr id="10" name="Text 8"/>
          <p:cNvSpPr/>
          <p:nvPr/>
        </p:nvSpPr>
        <p:spPr>
          <a:xfrm>
            <a:off x="3749040" y="406908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A8A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1x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46177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0C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ChaCha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463040" y="4663440"/>
            <a:ext cx="3840480" cy="292608"/>
          </a:xfrm>
          <a:prstGeom prst="roundRect">
            <a:avLst>
              <a:gd name="adj" fmla="val 15625"/>
            </a:avLst>
          </a:prstGeom>
          <a:solidFill>
            <a:srgbClr val="00C896"/>
          </a:solidFill>
          <a:ln/>
        </p:spPr>
      </p:sp>
      <p:sp>
        <p:nvSpPr>
          <p:cNvPr id="13" name="Text 11"/>
          <p:cNvSpPr/>
          <p:nvPr/>
        </p:nvSpPr>
        <p:spPr>
          <a:xfrm>
            <a:off x="5394960" y="461772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C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~3x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35040" y="1554480"/>
            <a:ext cx="5577840" cy="4434840"/>
          </a:xfrm>
          <a:prstGeom prst="roundRect">
            <a:avLst>
              <a:gd name="adj" fmla="val 1237"/>
            </a:avLst>
          </a:prstGeom>
          <a:solidFill>
            <a:srgbClr val="13131F"/>
          </a:solidFill>
          <a:ln w="12700">
            <a:solidFill>
              <a:srgbClr val="2A2A3A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172200" y="1627632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0C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· ChaCha20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217920" y="1965960"/>
            <a:ext cx="521208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cryptography.hazmat.primitives \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.ciphers.aead import \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ChaCha20Poly1305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   = PBKDF2HMAC(SHA256(), 32,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salt, 100_000).derive(pwd)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nonce = os.urandom(12)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 = ChaCha20Poly1305(key) \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.encrypt(nonce, data, None)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token = b64encode(salt + nonce + ct)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8A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حسين حامد الكوافي</a:t>
            </a:r>
            <a:pPr algn="l" indent="0" marL="0">
              <a:buNone/>
            </a:pPr>
            <a:r>
              <a:rPr lang="en-US" sz="900" dirty="0">
                <a:solidFill>
                  <a:srgbClr val="2A2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·   642   ·   Tashfeer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247120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C6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7C6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القديم — Triple-DES (3DES)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32688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spc="200" kern="0" dirty="0">
                <a:solidFill>
                  <a:srgbClr val="8A8A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LEGACY · EDUCATIONAL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212080" cy="2377440"/>
          </a:xfrm>
          <a:prstGeom prst="roundRect">
            <a:avLst>
              <a:gd name="adj" fmla="val 3846"/>
            </a:avLst>
          </a:prstGeom>
          <a:solidFill>
            <a:srgbClr val="13131F"/>
          </a:solidFill>
          <a:ln w="12700">
            <a:solidFill>
              <a:srgbClr val="2A2A3A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916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00C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الفكرة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48463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DD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يطبّق DES ثلاث مرات بمفتاح 24-byte.
</a:t>
            </a:r>
            <a:pPr algn="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DD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وضع CBC مع حشو PKCS7 و IV عشوائي.
</a:t>
            </a:r>
            <a:pPr algn="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DD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كتلة 64-bit، أبطأ وأضعف من AES.
</a:t>
            </a:r>
            <a:pPr algn="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DD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موجود هنا للأغراض التعليمية فقط.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4160520"/>
            <a:ext cx="5212080" cy="1097280"/>
          </a:xfrm>
          <a:prstGeom prst="roundRect">
            <a:avLst>
              <a:gd name="adj" fmla="val 6667"/>
            </a:avLst>
          </a:prstGeom>
          <a:solidFill>
            <a:srgbClr val="2A1518"/>
          </a:solidFill>
          <a:ln w="19050">
            <a:solidFill>
              <a:srgbClr val="FF6B6B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42519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تحذير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461772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DDD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أُهمل رسمياً (NIST) ولا يُستخدم في الأنظمة الحديثة — استخدم AES أو ChaCha20.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035040" y="1554480"/>
            <a:ext cx="5577840" cy="4434840"/>
          </a:xfrm>
          <a:prstGeom prst="roundRect">
            <a:avLst>
              <a:gd name="adj" fmla="val 1237"/>
            </a:avLst>
          </a:prstGeom>
          <a:solidFill>
            <a:srgbClr val="13131F"/>
          </a:solidFill>
          <a:ln w="12700">
            <a:solidFill>
              <a:srgbClr val="2A2A3A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172200" y="1627632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0C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· Triple-DES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217920" y="1965960"/>
            <a:ext cx="521208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cryptography.hazmat.primitives \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.ciphers import Cipher, \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algorithms, modes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 = PBKDF2HMAC(SHA256(), 24,   # 24 B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salt, 100_000).derive(pwd)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iv  = os.urandom(8)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padded = PKCS7(64).padder() \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.update(data) + ...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enc = Cipher(TripleDES(key),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CBC(iv)).encryptor()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  = enc.update(padded) + \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enc.finalize()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8A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حسين حامد الكوافي</a:t>
            </a:r>
            <a:pPr algn="l" indent="0" marL="0">
              <a:buNone/>
            </a:pPr>
            <a:r>
              <a:rPr lang="en-US" sz="900" dirty="0">
                <a:solidFill>
                  <a:srgbClr val="2A2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·   642   ·   Tashfeer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247120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C6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7C6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إدارة المفاتيح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32688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spc="200" kern="0" dirty="0">
                <a:solidFill>
                  <a:srgbClr val="8A8A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 MANAGEMENT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611880" cy="3931920"/>
          </a:xfrm>
          <a:prstGeom prst="roundRect">
            <a:avLst>
              <a:gd name="adj" fmla="val 2532"/>
            </a:avLst>
          </a:prstGeom>
          <a:solidFill>
            <a:srgbClr val="13131F"/>
          </a:solidFill>
          <a:ln w="12700">
            <a:solidFill>
              <a:srgbClr val="7C6AFF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965960"/>
            <a:ext cx="914400" cy="548640"/>
          </a:xfrm>
          <a:prstGeom prst="roundRect">
            <a:avLst>
              <a:gd name="adj" fmla="val 16667"/>
            </a:avLst>
          </a:prstGeom>
          <a:solidFill>
            <a:srgbClr val="13131F"/>
          </a:solidFill>
          <a:ln w="15875">
            <a:solidFill>
              <a:srgbClr val="7C6A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96596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🔑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269748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7C6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PBKDF2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22960" y="320040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DDD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اشتقاق المفتاح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3749040"/>
            <a:ext cx="30632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A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يحوّل كلمة المرور إلى مفتاح قوي عبر 100,000 تكرار + SHA-256، فيصعّب التخمين.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434840" y="1691640"/>
            <a:ext cx="3611880" cy="3931920"/>
          </a:xfrm>
          <a:prstGeom prst="roundRect">
            <a:avLst>
              <a:gd name="adj" fmla="val 2532"/>
            </a:avLst>
          </a:prstGeom>
          <a:solidFill>
            <a:srgbClr val="13131F"/>
          </a:solidFill>
          <a:ln w="12700">
            <a:solidFill>
              <a:srgbClr val="00C896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1965960"/>
            <a:ext cx="914400" cy="548640"/>
          </a:xfrm>
          <a:prstGeom prst="roundRect">
            <a:avLst>
              <a:gd name="adj" fmla="val 16667"/>
            </a:avLst>
          </a:prstGeom>
          <a:solidFill>
            <a:srgbClr val="13131F"/>
          </a:solidFill>
          <a:ln w="15875">
            <a:solidFill>
              <a:srgbClr val="00C89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9160" y="196596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🧂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709160" y="269748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0C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SALT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709160" y="320040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DDD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ملح عشوائي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709160" y="3749040"/>
            <a:ext cx="30632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A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بايت عشوائية تُضاف لكل عملية، فتمنع جداول القرصنة الجاهزة (Rainbow tables).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321040" y="1691640"/>
            <a:ext cx="3611880" cy="3931920"/>
          </a:xfrm>
          <a:prstGeom prst="roundRect">
            <a:avLst>
              <a:gd name="adj" fmla="val 2532"/>
            </a:avLst>
          </a:prstGeom>
          <a:solidFill>
            <a:srgbClr val="13131F"/>
          </a:solidFill>
          <a:ln w="12700">
            <a:solidFill>
              <a:srgbClr val="FF6B6B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595360" y="1965960"/>
            <a:ext cx="914400" cy="548640"/>
          </a:xfrm>
          <a:prstGeom prst="roundRect">
            <a:avLst>
              <a:gd name="adj" fmla="val 16667"/>
            </a:avLst>
          </a:prstGeom>
          <a:solidFill>
            <a:srgbClr val="13131F"/>
          </a:solidFill>
          <a:ln w="15875">
            <a:solidFill>
              <a:srgbClr val="FF6B6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95360" y="196596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595360" y="269748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NONCE / IV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595360" y="320040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DDD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رقم يُستخدم مرة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595360" y="3749040"/>
            <a:ext cx="30632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A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قيمة فريدة لكل تشفير تضمن أن نفس النص لا ينتج نفس الشيفرة مرتين.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580644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الناتج النهائي  =  salt + nonce + ciphertext + tag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8A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حسين حامد الكوافي</a:t>
            </a:r>
            <a:pPr algn="l" indent="0" marL="0">
              <a:buNone/>
            </a:pPr>
            <a:r>
              <a:rPr lang="en-US" sz="900" dirty="0">
                <a:solidFill>
                  <a:srgbClr val="2A2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·   642   ·   Tashfeer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47120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C6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7C6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العرض الحي — تطبيق تشفير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32688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spc="200" kern="0" dirty="0">
                <a:solidFill>
                  <a:srgbClr val="8A8A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LIVE DEMO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400800" cy="4206240"/>
          </a:xfrm>
          <a:prstGeom prst="roundRect">
            <a:avLst>
              <a:gd name="adj" fmla="val 2174"/>
            </a:avLst>
          </a:prstGeom>
          <a:solidFill>
            <a:srgbClr val="13131F"/>
          </a:solidFill>
          <a:ln w="12700">
            <a:solidFill>
              <a:srgbClr val="2A2A3A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645920"/>
            <a:ext cx="6400800" cy="502920"/>
          </a:xfrm>
          <a:prstGeom prst="roundRect">
            <a:avLst>
              <a:gd name="adj" fmla="val 18182"/>
            </a:avLst>
          </a:prstGeom>
          <a:solidFill>
            <a:srgbClr val="1A1A28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801368"/>
            <a:ext cx="182880" cy="182880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7" name="Shape 5"/>
          <p:cNvSpPr/>
          <p:nvPr/>
        </p:nvSpPr>
        <p:spPr>
          <a:xfrm>
            <a:off x="1051560" y="1801368"/>
            <a:ext cx="182880" cy="182880"/>
          </a:xfrm>
          <a:prstGeom prst="ellipse">
            <a:avLst/>
          </a:prstGeom>
          <a:solidFill>
            <a:srgbClr val="F5C451"/>
          </a:solidFill>
          <a:ln/>
        </p:spPr>
      </p:sp>
      <p:sp>
        <p:nvSpPr>
          <p:cNvPr id="8" name="Shape 6"/>
          <p:cNvSpPr/>
          <p:nvPr/>
        </p:nvSpPr>
        <p:spPr>
          <a:xfrm>
            <a:off x="1325880" y="1801368"/>
            <a:ext cx="182880" cy="182880"/>
          </a:xfrm>
          <a:prstGeom prst="ellipse">
            <a:avLst/>
          </a:prstGeom>
          <a:solidFill>
            <a:srgbClr val="00C896"/>
          </a:solidFill>
          <a:ln/>
        </p:spPr>
      </p:sp>
      <p:sp>
        <p:nvSpPr>
          <p:cNvPr id="9" name="Text 7"/>
          <p:cNvSpPr/>
          <p:nvPr/>
        </p:nvSpPr>
        <p:spPr>
          <a:xfrm>
            <a:off x="1828800" y="16916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A8A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localhost:5000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2468880"/>
            <a:ext cx="6400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🔐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548640" y="32918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C6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تشفير · TASHFEER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914400" y="402336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13131F"/>
          </a:solidFill>
          <a:ln w="15875">
            <a:solidFill>
              <a:srgbClr val="7C6A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02336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C6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377440" y="402336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13131F"/>
          </a:solidFill>
          <a:ln w="15875">
            <a:solidFill>
              <a:srgbClr val="2A2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377440" y="402336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RSA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840480" y="402336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13131F"/>
          </a:solidFill>
          <a:ln w="15875">
            <a:solidFill>
              <a:srgbClr val="2A2A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40480" y="402336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ChaCha20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303520" y="402336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13131F"/>
          </a:solidFill>
          <a:ln w="15875">
            <a:solidFill>
              <a:srgbClr val="2A2A3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03520" y="402336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3DES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46634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8A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نص · ملفات · صور · صوت ]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560320" y="5120640"/>
            <a:ext cx="2743200" cy="365760"/>
          </a:xfrm>
          <a:prstGeom prst="roundRect">
            <a:avLst>
              <a:gd name="adj" fmla="val 50000"/>
            </a:avLst>
          </a:prstGeom>
          <a:solidFill>
            <a:srgbClr val="13131F"/>
          </a:solidFill>
          <a:ln w="15875">
            <a:solidFill>
              <a:srgbClr val="00C89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560320" y="5120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C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🔐 تشفير / 🔓 فك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223760" y="1645920"/>
            <a:ext cx="4389120" cy="4206240"/>
          </a:xfrm>
          <a:prstGeom prst="roundRect">
            <a:avLst>
              <a:gd name="adj" fmla="val 2174"/>
            </a:avLst>
          </a:prstGeom>
          <a:solidFill>
            <a:srgbClr val="13131F"/>
          </a:solidFill>
          <a:ln w="12700">
            <a:solidFill>
              <a:srgbClr val="2A2A3A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406640" y="178308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00C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خطوات العرض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11109960" y="2304288"/>
            <a:ext cx="292608" cy="292608"/>
          </a:xfrm>
          <a:prstGeom prst="ellipse">
            <a:avLst/>
          </a:prstGeom>
          <a:solidFill>
            <a:srgbClr val="7C6AFF"/>
          </a:solidFill>
          <a:ln/>
        </p:spPr>
      </p:sp>
      <p:sp>
        <p:nvSpPr>
          <p:cNvPr id="26" name="Text 24"/>
          <p:cNvSpPr/>
          <p:nvPr/>
        </p:nvSpPr>
        <p:spPr>
          <a:xfrm>
            <a:off x="11109960" y="230428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406640" y="22860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DDDD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شغّل:  python app.py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11109960" y="2807208"/>
            <a:ext cx="292608" cy="292608"/>
          </a:xfrm>
          <a:prstGeom prst="ellipse">
            <a:avLst/>
          </a:prstGeom>
          <a:solidFill>
            <a:srgbClr val="7C6AFF"/>
          </a:solidFill>
          <a:ln/>
        </p:spPr>
      </p:sp>
      <p:sp>
        <p:nvSpPr>
          <p:cNvPr id="29" name="Text 27"/>
          <p:cNvSpPr/>
          <p:nvPr/>
        </p:nvSpPr>
        <p:spPr>
          <a:xfrm>
            <a:off x="11109960" y="280720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406640" y="27889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DDDD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افتح:  localhost:5000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11109960" y="3310128"/>
            <a:ext cx="292608" cy="292608"/>
          </a:xfrm>
          <a:prstGeom prst="ellipse">
            <a:avLst/>
          </a:prstGeom>
          <a:solidFill>
            <a:srgbClr val="7C6AFF"/>
          </a:solidFill>
          <a:ln/>
        </p:spPr>
      </p:sp>
      <p:sp>
        <p:nvSpPr>
          <p:cNvPr id="32" name="Text 30"/>
          <p:cNvSpPr/>
          <p:nvPr/>
        </p:nvSpPr>
        <p:spPr>
          <a:xfrm>
            <a:off x="11109960" y="331012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406640" y="32918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DDDD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اختر AES + اكتب نصاً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11109960" y="3813048"/>
            <a:ext cx="292608" cy="292608"/>
          </a:xfrm>
          <a:prstGeom prst="ellipse">
            <a:avLst/>
          </a:prstGeom>
          <a:solidFill>
            <a:srgbClr val="7C6AFF"/>
          </a:solidFill>
          <a:ln/>
        </p:spPr>
      </p:sp>
      <p:sp>
        <p:nvSpPr>
          <p:cNvPr id="35" name="Text 33"/>
          <p:cNvSpPr/>
          <p:nvPr/>
        </p:nvSpPr>
        <p:spPr>
          <a:xfrm>
            <a:off x="11109960" y="38130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406640" y="37947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DDDD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أدخل كلمة المرور → تشفير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11109960" y="4315968"/>
            <a:ext cx="292608" cy="292608"/>
          </a:xfrm>
          <a:prstGeom prst="ellipse">
            <a:avLst/>
          </a:prstGeom>
          <a:solidFill>
            <a:srgbClr val="7C6AFF"/>
          </a:solidFill>
          <a:ln/>
        </p:spPr>
      </p:sp>
      <p:sp>
        <p:nvSpPr>
          <p:cNvPr id="38" name="Text 36"/>
          <p:cNvSpPr/>
          <p:nvPr/>
        </p:nvSpPr>
        <p:spPr>
          <a:xfrm>
            <a:off x="11109960" y="431596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7406640" y="429768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DDDD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انسخ الناتج → فك التشفير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11109960" y="4818888"/>
            <a:ext cx="292608" cy="292608"/>
          </a:xfrm>
          <a:prstGeom prst="ellipse">
            <a:avLst/>
          </a:prstGeom>
          <a:solidFill>
            <a:srgbClr val="7C6AFF"/>
          </a:solidFill>
          <a:ln/>
        </p:spPr>
      </p:sp>
      <p:sp>
        <p:nvSpPr>
          <p:cNvPr id="41" name="Text 39"/>
          <p:cNvSpPr/>
          <p:nvPr/>
        </p:nvSpPr>
        <p:spPr>
          <a:xfrm>
            <a:off x="11109960" y="481888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7406640" y="48006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DDDD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جرّب RSA: ولّد مفاتيح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11109960" y="5321808"/>
            <a:ext cx="292608" cy="292608"/>
          </a:xfrm>
          <a:prstGeom prst="ellipse">
            <a:avLst/>
          </a:prstGeom>
          <a:solidFill>
            <a:srgbClr val="7C6AFF"/>
          </a:solidFill>
          <a:ln/>
        </p:spPr>
      </p:sp>
      <p:sp>
        <p:nvSpPr>
          <p:cNvPr id="44" name="Text 42"/>
          <p:cNvSpPr/>
          <p:nvPr/>
        </p:nvSpPr>
        <p:spPr>
          <a:xfrm>
            <a:off x="11109960" y="532180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7406640" y="53035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DDDD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ارفع صورة وشفّرها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8A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حسين حامد الكوافي</a:t>
            </a:r>
            <a:pPr algn="l" indent="0" marL="0">
              <a:buNone/>
            </a:pPr>
            <a:r>
              <a:rPr lang="en-US" sz="900" dirty="0">
                <a:solidFill>
                  <a:srgbClr val="2A2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·   642   ·   Tashfeer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11247120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C6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7C6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متى أستخدم كل خوارزمية؟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32688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spc="200" kern="0" dirty="0">
                <a:solidFill>
                  <a:srgbClr val="8A8A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WHICH ALGORITHM WHEN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1828800"/>
          </a:xfrm>
          <a:prstGeom prst="roundRect">
            <a:avLst>
              <a:gd name="adj" fmla="val 5000"/>
            </a:avLst>
          </a:prstGeom>
          <a:solidFill>
            <a:srgbClr val="13131F"/>
          </a:solidFill>
          <a:ln w="12700">
            <a:solidFill>
              <a:srgbClr val="7C6AFF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892040" y="1920240"/>
            <a:ext cx="777240" cy="777240"/>
          </a:xfrm>
          <a:prstGeom prst="roundRect">
            <a:avLst>
              <a:gd name="adj" fmla="val 14118"/>
            </a:avLst>
          </a:prstGeom>
          <a:solidFill>
            <a:srgbClr val="13131F"/>
          </a:solidFill>
          <a:ln w="15875">
            <a:solidFill>
              <a:srgbClr val="7C6A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892040" y="192024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🛡️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22960" y="196596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7C6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AES-256-GCM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22960" y="2514600"/>
            <a:ext cx="41148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DD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الخيار الافتراضي لأي تشفير عام: ملفات، قواعد بيانات، اتصالات.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309360" y="1645920"/>
            <a:ext cx="5394960" cy="1828800"/>
          </a:xfrm>
          <a:prstGeom prst="roundRect">
            <a:avLst>
              <a:gd name="adj" fmla="val 5000"/>
            </a:avLst>
          </a:prstGeom>
          <a:solidFill>
            <a:srgbClr val="13131F"/>
          </a:solidFill>
          <a:ln w="12700">
            <a:solidFill>
              <a:srgbClr val="00C896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0652760" y="1920240"/>
            <a:ext cx="777240" cy="777240"/>
          </a:xfrm>
          <a:prstGeom prst="roundRect">
            <a:avLst>
              <a:gd name="adj" fmla="val 14118"/>
            </a:avLst>
          </a:prstGeom>
          <a:solidFill>
            <a:srgbClr val="13131F"/>
          </a:solidFill>
          <a:ln w="15875">
            <a:solidFill>
              <a:srgbClr val="00C89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652760" y="192024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🔑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583680" y="196596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00C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RSA-2048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6583680" y="2514600"/>
            <a:ext cx="41148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DD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لتبادل المفاتيح والتواقيع الرقمية بين طرفين لا يتشاركان سرّاً.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3794760"/>
            <a:ext cx="5394960" cy="1828800"/>
          </a:xfrm>
          <a:prstGeom prst="roundRect">
            <a:avLst>
              <a:gd name="adj" fmla="val 5000"/>
            </a:avLst>
          </a:prstGeom>
          <a:solidFill>
            <a:srgbClr val="13131F"/>
          </a:solidFill>
          <a:ln w="12700">
            <a:solidFill>
              <a:srgbClr val="9A8CFF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892040" y="4069080"/>
            <a:ext cx="777240" cy="777240"/>
          </a:xfrm>
          <a:prstGeom prst="roundRect">
            <a:avLst>
              <a:gd name="adj" fmla="val 14118"/>
            </a:avLst>
          </a:prstGeom>
          <a:solidFill>
            <a:srgbClr val="13131F"/>
          </a:solidFill>
          <a:ln w="15875">
            <a:solidFill>
              <a:srgbClr val="9A8C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92040" y="40690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⚡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22960" y="411480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9A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ChaCha20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822960" y="4663440"/>
            <a:ext cx="41148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DD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للأجهزة المحمولة والأنظمة بدون تسريع AES العتادي.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309360" y="3794760"/>
            <a:ext cx="5394960" cy="1828800"/>
          </a:xfrm>
          <a:prstGeom prst="roundRect">
            <a:avLst>
              <a:gd name="adj" fmla="val 5000"/>
            </a:avLst>
          </a:prstGeom>
          <a:solidFill>
            <a:srgbClr val="13131F"/>
          </a:solidFill>
          <a:ln w="12700">
            <a:solidFill>
              <a:srgbClr val="FF6B6B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0652760" y="4069080"/>
            <a:ext cx="777240" cy="777240"/>
          </a:xfrm>
          <a:prstGeom prst="roundRect">
            <a:avLst>
              <a:gd name="adj" fmla="val 14118"/>
            </a:avLst>
          </a:prstGeom>
          <a:solidFill>
            <a:srgbClr val="13131F"/>
          </a:solidFill>
          <a:ln w="15875">
            <a:solidFill>
              <a:srgbClr val="FF6B6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652760" y="40690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📚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6583680" y="411480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Triple-DES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6583680" y="4663440"/>
            <a:ext cx="41148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DD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للتوافق مع أنظمة قديمة جداً وللتعليم — تجنّبه في الجديد.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8A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حسين حامد الكوافي</a:t>
            </a:r>
            <a:pPr algn="l" indent="0" marL="0">
              <a:buNone/>
            </a:pPr>
            <a:r>
              <a:rPr lang="en-US" sz="900" dirty="0">
                <a:solidFill>
                  <a:srgbClr val="2A2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·   642   ·   Tashfeer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47120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C6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1371600"/>
            <a:ext cx="5486400" cy="5486400"/>
          </a:xfrm>
          <a:prstGeom prst="roundRect">
            <a:avLst>
              <a:gd name="adj" fmla="val 50000"/>
            </a:avLst>
          </a:prstGeom>
          <a:solidFill>
            <a:srgbClr val="15122E"/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3657600"/>
            <a:ext cx="5486400" cy="5486400"/>
          </a:xfrm>
          <a:prstGeom prst="roundRect">
            <a:avLst>
              <a:gd name="adj" fmla="val 50000"/>
            </a:avLst>
          </a:prstGeom>
          <a:solidFill>
            <a:srgbClr val="0E2421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188720"/>
            <a:ext cx="121889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dirty="0">
                <a:solidFill>
                  <a:srgbClr val="000000"/>
                </a:solidFill>
              </a:rPr>
              <a:t>🔐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0" y="2103120"/>
            <a:ext cx="121889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5200" b="1" dirty="0">
                <a:solidFill>
                  <a:srgbClr val="7C6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شكراً لكم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0" y="320040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2000" dirty="0">
                <a:solidFill>
                  <a:srgbClr val="00C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أسئلتكم ومناقشتكم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0" y="379476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8A8A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Questions &amp; Answers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803904" y="4572000"/>
            <a:ext cx="4572000" cy="1280160"/>
          </a:xfrm>
          <a:prstGeom prst="roundRect">
            <a:avLst>
              <a:gd name="adj" fmla="val 7143"/>
            </a:avLst>
          </a:prstGeom>
          <a:solidFill>
            <a:srgbClr val="13131F"/>
          </a:solidFill>
          <a:ln w="12700">
            <a:solidFill>
              <a:srgbClr val="2A2A3A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986784" y="475488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rgbClr val="DDD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حسين حامد الكوافي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986784" y="525780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8A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 642  ·  Cybersecurity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Cybersecurity — Encryption Algorithms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Tashfeer</dc:title>
  <dc:subject>PptxGenJS Presentation</dc:subject>
  <dc:creator>Hussain Hamed Al-Kawafi (642)</dc:creator>
  <cp:lastModifiedBy>Hussain Hamed Al-Kawafi (642)</cp:lastModifiedBy>
  <cp:revision>1</cp:revision>
  <dcterms:created xsi:type="dcterms:W3CDTF">2026-06-08T17:51:26Z</dcterms:created>
  <dcterms:modified xsi:type="dcterms:W3CDTF">2026-06-08T17:51:26Z</dcterms:modified>
</cp:coreProperties>
</file>